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建议用时：40秒</a:t>
            </a:r>
          </a:p>
          <a:p/>
          <a:p>
            <a:r>
              <a:t>各位老师、同学，大家好。今天汇报的题目是“区域国别学相关思考”。我主要依据知识库中的五本著作，讨论一个问题：当区域国别学已经获得学科建制，我们怎样判断它是否真正形成了有解释力的知识？我的基本立场是，了解一个国家只是起点，更关键的是提出好问题、组织可靠证据，并让结论接受检验。下面从学科定位、研究方法和知识责任三个方面展开。</a:t>
            </a:r>
          </a:p>
          <a:p/>
          <a:p>
            <a:r>
              <a:t>来源与说明：阅读基础：钱乘旦、刘鸿武、赵可金、罗林、张蔚磊相关著作｜知识库资料整理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建议用时：65秒</a:t>
            </a:r>
          </a:p>
          <a:p/>
          <a:p>
            <a:r>
              <a:t>我们很容易把区域国别研究理解为资料越多越好：收集人口、经济、宗教、语言和外交信息，再写成一本国情手册。这当然有价值，但信息完整并不等于解释成立。例如，知道某国青年失业率上升，并不能直接解释某种政治动员为何出现。我们还需要识别制度、历史、社会网络与行动者理解之间的联系。因此，我提出三个检验：研究有没有明确的问题？证据能否支撑所说的机制？结论在什么条件下可能失效？这三个问题构成今天汇报的主线。</a:t>
            </a:r>
          </a:p>
          <a:p/>
          <a:p>
            <a:r>
              <a:t>来源与说明：框架为本次汇报提出；参照赵可金《区域国别学》文本页标 p.50–52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建议用时：60秒</a:t>
            </a:r>
          </a:p>
          <a:p/>
          <a:p>
            <a:r>
              <a:t>首先需要把三个层面分开。制度层面，2022年的学科目录已经把区域国别学列为交叉学科门类下的一级学科，代码是1407，这是明确的制度事实。组织层面，它把语言、历史、政治、经济等研究力量连接起来。知识层面，它仍然需要回答自己增加了怎样的解释。设立学位点可以改善人才培养条件，但不能自动证明跨学科整合已经成功。因此，我不把“它是不是一门学科”当作简单的是非题，而是追问：制度提供的平台，是否生产出了单一学科难以获得的新认识？</a:t>
            </a:r>
          </a:p>
          <a:p/>
          <a:p>
            <a:r>
              <a:t>来源与说明：制度事实：张蔚磊主编，文本页标 p.14；知识层区分为本次汇报判断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建议用时：65秒</a:t>
            </a:r>
          </a:p>
          <a:p/>
          <a:p>
            <a:r>
              <a:t>五本著作给我们不同的入口。钱乘旦强调通才加专才，以及语言、历史和实地经历。刘鸿武把行走、跨文化体验和历史眼光结合起来。赵可金讨论域外知识体系和不同研究范式。罗林主编的文集保留了学科建制、方法与理论创新的争论。张蔚磊主编的教材则提供跨学科方法与案例。它们共同重视对象、经验和跨学科，但并没有形成完全一致的知识目标。尤其是地方性知识是否必须走向一般化解释，各家取向不同。我的做法是把差异当作研究资源，而不是压缩成一个看似统一的定义。</a:t>
            </a:r>
          </a:p>
          <a:p/>
          <a:p>
            <a:r>
              <a:t>来源与说明：据五本底本及知识库综述概括；观点差异不等于作者之间直接争论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建议用时：65秒</a:t>
            </a:r>
          </a:p>
          <a:p/>
          <a:p>
            <a:r>
              <a:t>区域国别学有一个容易被忽略的问题：研究对象究竟在哪里？国家边界便于统计与制度比较，但语言、宗教、迁移和产业链往往跨越国界。以劳动力流动为例，只在一个国家内观察，可能看不到招聘机构、企业需求和跨境合同之间的联系。因此，研究单位应该服从问题。研究税收制度时，国家可能是合适单位；研究语言传播时，文化区域更有用；研究跨境就业时，就要跟随网络。这里的地图只表达空间关联，不标国界。我的判断是，区域知识的价值，恰恰在于发现国家边界无法完整容纳的机制。</a:t>
            </a:r>
          </a:p>
          <a:p/>
          <a:p>
            <a:r>
              <a:t>来源与说明：地图：Natural Earth 1:110m land，公有领域；仅绘陆地轮廓｜研究单位选择为本次汇报判断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建议用时：70秒</a:t>
            </a:r>
          </a:p>
          <a:p/>
          <a:p>
            <a:r>
              <a:t>跨学科不能只表现为章节安排：第一章历史、第二章政治、第三章经济，最后加一个结论。真正的整合需要共同的问题，以及证据之间可解释的关系。例如研究移民的就业选择，历史研究帮助说明迁移通道的形成，制度分析解释签证与劳动规则，民族志揭示家庭义务和风险感受，网络分析显示中介关系。它们不是四种独立答案，而是同一个机制的不同环节。整合的检验也很具体：拿掉某一类证据，原来的解释是否会改变？如果完全不会，那么所谓跨学科可能只是装饰性拼接。</a:t>
            </a:r>
          </a:p>
          <a:p/>
          <a:p>
            <a:r>
              <a:t>来源与说明：参照钱乘旦《目标、路径与方法》图序 p0075；张蔚磊主编，文本页标 p.19–20；图解为本次设计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建议用时：70秒</a:t>
            </a:r>
          </a:p>
          <a:p/>
          <a:p>
            <a:r>
              <a:t>钱乘旦和刘鸿武都强调实地研究，张蔚磊的教材也提供民族志、文本和网络等方法。不过，去过当地不等于理解当地，掌握语言也不等于自动获得客观事实。受访者可能有所保留，研究者可能只接触到城市精英，翻译也可能改变概念。因此，我建议建立三角互校：用当地语言理解行动者自己的解释，用历史和制度材料检验叙述的背景，再用可比较资料考察现象的范围。遇到不同证据相互冲突时，不要急于消除差异，而应追问样本、时点和位置为什么不同。矛盾本身可能就是研究线索。</a:t>
            </a:r>
          </a:p>
          <a:p/>
          <a:p>
            <a:r>
              <a:t>来源与说明：参照钱乘旦图序 p0141–145、刘鸿武图序 p0328、张蔚磊文本页标 p.233–242；互校框架为本次判断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建议用时：75秒</a:t>
            </a:r>
          </a:p>
          <a:p/>
          <a:p>
            <a:r>
              <a:t>这里存在一个真实张力：我们既不希望拿普遍模型硬套每一个国家，也不希望把每个案例都描述成不可比较的独特世界。可以采用一条中间路径：先在案例中识别机制，再选择有意义的对照，最后说明适用边界。例如，研究同一种政策为什么在不同地方产生不同结果，我们应先确定比较的是相同政策还是相似名称，再排查执行机构、资源和社会网络的差异。如果遇到机制预测不成立的反例，就要修正解释。这不是追求放之四海而皆准的定律，而是提出条件明确、能够被反驳的判断。</a:t>
            </a:r>
          </a:p>
          <a:p/>
          <a:p>
            <a:r>
              <a:t>来源与说明：参照罗林文集李强篇：邹谠相关论述，图序 p0267；比较路径为本次汇报建议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建议用时：85秒</a:t>
            </a:r>
          </a:p>
          <a:p/>
          <a:p>
            <a:r>
              <a:t>张蔚磊教材介绍项飚的“全球猎身”，作为多点民族志的方法案例。这里不复述整本著作的经验结论，而借这个案例演示研究设计。我们的示范问题是：跨境就业机会如何被组织，相关风险又由谁承担？研究视线沿着劳动者、招聘与培训中介、雇主三个节点移动。访谈理解个人决策，合同与制度文件说明责任分配，网络材料揭示关系结构。关键是不能预先认定某一方承担全部风险，而应让证据回答。还要寻找直接招聘、不同合同和不同群体的对照。这样，一个看似关于印度的问题，就成为兼具地方背景与跨境机制的研究。</a:t>
            </a:r>
          </a:p>
          <a:p/>
          <a:p>
            <a:r>
              <a:t>来源与说明：案例出处：张蔚磊主编，文本页标 p.225–230，项飚《全球“猎身”》；本页仅作研究设计演示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建议用时：70秒</a:t>
            </a:r>
          </a:p>
          <a:p/>
          <a:p>
            <a:r>
              <a:t>区域国别学与现实需求联系紧密，这是资源来源，也是责任来源。但如果研究只寻找支持预设政策的证据，现实服务反而会失去价值。政策建议可以有明确目标，事实判断必须允许得出不方便的结论。图中的两个轴，是本次汇报提出的分析框架：一条衡量公共问题关联度，一条衡量证据能否独立核验。理想位置是既回应重要问题，也坚持证据约束。这里的自主不是脱离社会，而是保留识别风险、修正预期和公开不确定性的能力。能帮助决策者发现错误的研究，往往比只证明其正确的研究更有用。</a:t>
            </a:r>
          </a:p>
          <a:p/>
          <a:p>
            <a:r>
              <a:t>来源与说明：参照赵可金文本页标 p.63：国家主义范式；二维分析框架为本次汇报判断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建议用时：70秒</a:t>
            </a:r>
          </a:p>
          <a:p/>
          <a:p>
            <a:r>
              <a:t>自主知识体系不能仅靠更换话语中心来完成。我们批评外部研究把他者当作材料，也应该反思自己的研究有没有重复这一结构。我的建议是，把自主落实为四个可以讨论的问题：谁提出问题，谁拥有资料，谁参与解释，谁从成果中受益？在跨国合作中，当地学者可以共同设计问题、核对概念和参与署名；受访者的信息安全与知情同意也应进入研究流程。这样，中国视角与当地经验不必互相排斥。我们提出有辨识度的问题，同时接受他者修正，才能让自主知识成为可对话、可使用的知识。</a:t>
            </a:r>
          </a:p>
          <a:p/>
          <a:p>
            <a:r>
              <a:t>来源与说明：参照刘鸿武图序 p0328：中国立场与世界视野；四问与合作建议为本次汇报判断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建议用时：65秒</a:t>
            </a:r>
          </a:p>
          <a:p/>
          <a:p>
            <a:r>
              <a:t>人才培养上，“通才加专才”是重要目标，但不能把通才理解成掌握某国一切知识。更可行的是T形能力：横向具备语言、历史、制度和社会背景，纵向能够深入一个专题，并熟练使用相应方法。评价也要跟着改变。除了论文篇数和报告数量，还应检查原始材料是否可追溯、跨学科方法是否真正协作、反例是否被认真处理、成果能否被学术或实践共同体使用。这些是本次汇报的建议指标，不是现行制度规定。它们的意义，是让人才培养从“修了什么课”走向“能够独立完成怎样的研究”。</a:t>
            </a:r>
          </a:p>
          <a:p/>
          <a:p>
            <a:r>
              <a:t>来源与说明：钱乘旦图序 p0065、p0131、p0220；周方银篇见罗林文集图序 p0072–73；评价指标为建议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建议用时：60秒</a:t>
            </a:r>
          </a:p>
          <a:p/>
          <a:p>
            <a:r>
              <a:t>最后，我把思考收束为三个可以开始的行动。第一，缩小问题：不要一开始就写一个国家的全貌，而是选择一个对象清楚、机制明确的问题。第二，做实证据：建立当地语言材料、田野记录与制度资料之间的互校链条，同时记录反例。第三，开放解释：让不同学科和当地研究者参与检验，并明确结论的适用范围。区域国别学真正的潜力，不只是让我们知道更多外国信息，而是改变我们认识世界的方法。它既帮助我们理解他者，也提醒我们重新审视自身使用的概念。我的汇报到这里，谢谢大家。</a:t>
            </a:r>
          </a:p>
          <a:p/>
          <a:p>
            <a:r>
              <a:t>来源与说明：结论与行动建议为本次汇报判断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建议用时：20秒</a:t>
            </a:r>
          </a:p>
          <a:p/>
          <a:p>
            <a:r>
              <a:t>最后一页列出主要阅读依据。正文中的观点概括与本次判断已作区分；案例页是方法演示，不是新增的田野发现。页标对应知识库提取文本或注明的印刷页，可用于回查。感谢各位聆听，欢迎批评指正。</a:t>
            </a:r>
          </a:p>
          <a:p/>
          <a:p>
            <a:r>
              <a:t>来源与说明：文本来自用户上传知识库；外部视觉数据已下载验证；不使用未核验的网络统计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阅读基础：钱乘旦、刘鸿武、赵可金、罗林、张蔚磊相关著作｜知识库资料整理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01 / 14</a:t>
            </a:r>
          </a:p>
        </p:txBody>
      </p:sp>
      <p:pic>
        <p:nvPicPr>
          <p:cNvPr id="5" name="Picture 4" descr="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0"/>
            <a:ext cx="6629400" cy="6629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5852160" cy="626364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5943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COUNTRY AND REGION STUDIES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64008" cy="214884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4300" b="1">
                <a:solidFill>
                  <a:srgbClr val="F5F1E8"/>
                </a:solidFill>
                <a:latin typeface="微软雅黑"/>
              </a:defRPr>
            </a:pPr>
            <a:r>
              <a:rPr sz="4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区域国别学</a:t>
            </a:r>
          </a:p>
          <a:p>
            <a:pPr algn="l">
              <a:spcAft>
                <a:spcPts val="800"/>
              </a:spcAft>
              <a:defRPr sz="4300" b="1">
                <a:solidFill>
                  <a:srgbClr val="F5F1E8"/>
                </a:solidFill>
                <a:latin typeface="微软雅黑"/>
              </a:defRPr>
            </a:pPr>
            <a:r>
              <a:rPr sz="4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相关思考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709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C9A66B"/>
                </a:solidFill>
                <a:latin typeface="宋体"/>
              </a:defRPr>
            </a:pPr>
            <a:r>
              <a:rPr sz="2300" b="0">
                <a:solidFill>
                  <a:srgbClr val="C9A66B"/>
                </a:solidFill>
                <a:latin typeface="宋体"/>
                <a:ea typeface="宋体"/>
                <a:cs typeface="宋体"/>
              </a:rPr>
              <a:t>从认识他者，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C9A66B"/>
                </a:solidFill>
                <a:latin typeface="宋体"/>
              </a:defRPr>
            </a:pPr>
            <a:r>
              <a:rPr sz="2300" b="0">
                <a:solidFill>
                  <a:srgbClr val="C9A66B"/>
                </a:solidFill>
                <a:latin typeface="宋体"/>
                <a:ea typeface="宋体"/>
                <a:cs typeface="宋体"/>
              </a:rPr>
              <a:t>到形成可检验的知识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A8BAC6"/>
                </a:solidFill>
                <a:latin typeface="微软雅黑"/>
              </a:defRPr>
            </a:pPr>
            <a:r>
              <a:rPr sz="14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问题意识  /  证据组织  /  知识责任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核心问题｜把国情材料转化为解释能力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知道得更多，为什么仍可能理解得更少？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框架为本次汇报提出；参照赵可金《区域国别学》文本页标 p.50–52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83464"/>
            <a:ext cx="1581912" cy="329184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2407" y="320040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C9A66B"/>
                </a:solidFill>
                <a:latin typeface="微软雅黑"/>
              </a:defRPr>
            </a:pPr>
            <a:r>
              <a:rPr sz="11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本次汇报判断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500" b="0">
                <a:solidFill>
                  <a:srgbClr val="C9A66B"/>
                </a:solidFill>
                <a:latin typeface="宋体"/>
              </a:defRPr>
            </a:pPr>
            <a:r>
              <a:rPr sz="3500" b="0">
                <a:solidFill>
                  <a:srgbClr val="C9A66B"/>
                </a:solidFill>
                <a:latin typeface="宋体"/>
                <a:ea typeface="宋体"/>
                <a:cs typeface="宋体"/>
              </a:rPr>
              <a:t>信息完整 ≠ 解释成立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3447288" cy="256032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41148" cy="256032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09067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C9A66B"/>
                </a:solidFill>
                <a:latin typeface="微软雅黑"/>
              </a:defRPr>
            </a:pPr>
            <a:r>
              <a:rPr sz="26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685032"/>
            <a:ext cx="3026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问题是什么？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325112"/>
            <a:ext cx="3026664" cy="1024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从“介绍一个国家”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转向“解释一种现象”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2926080"/>
            <a:ext cx="3447288" cy="256032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2926080"/>
            <a:ext cx="41148" cy="256032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09067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C9A66B"/>
                </a:solidFill>
                <a:latin typeface="微软雅黑"/>
              </a:defRPr>
            </a:pPr>
            <a:r>
              <a:rPr sz="26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685032"/>
            <a:ext cx="3026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机制是什么？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4325112"/>
            <a:ext cx="3026664" cy="1024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把制度、历史与行动者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连接为可追踪的解释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3" y="2926080"/>
            <a:ext cx="3447288" cy="256032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3" y="2926080"/>
            <a:ext cx="41148" cy="256032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3" y="309067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C9A66B"/>
                </a:solidFill>
                <a:latin typeface="微软雅黑"/>
              </a:defRPr>
            </a:pPr>
            <a:r>
              <a:rPr sz="26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685032"/>
            <a:ext cx="3026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何时会失效？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4325112"/>
            <a:ext cx="3026664" cy="1024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写出反例、适用条件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与尚未解决的问题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思考一｜区分建制、研究组织与知识贡献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制度成立之后，知识如何成立？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制度事实：张蔚磊主编，文本页标 p.14；知识层区分为本次汇报判断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83464"/>
            <a:ext cx="1581912" cy="329184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2407" y="320040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C9A66B"/>
                </a:solidFill>
                <a:latin typeface="微软雅黑"/>
              </a:defRPr>
            </a:pPr>
            <a:r>
              <a:rPr sz="11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本次汇报判断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10881360" cy="1033271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8483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500" b="1">
                <a:solidFill>
                  <a:srgbClr val="C9A66B"/>
                </a:solidFill>
                <a:latin typeface="微软雅黑"/>
              </a:defRPr>
            </a:pPr>
            <a:r>
              <a:rPr sz="25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制度层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01168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1407｜2022 年列入一级学科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487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A8BAC6"/>
                </a:solidFill>
                <a:latin typeface="微软雅黑"/>
              </a:defRPr>
            </a:pPr>
            <a:r>
              <a:rPr sz="15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提供招生、培养与资源组织条件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10881360" cy="1033271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34670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500" b="1">
                <a:solidFill>
                  <a:srgbClr val="C9A66B"/>
                </a:solidFill>
                <a:latin typeface="微软雅黑"/>
              </a:defRPr>
            </a:pPr>
            <a:r>
              <a:rPr sz="25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组织层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32735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对象驱动的跨学科平台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749039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A8BAC6"/>
                </a:solidFill>
                <a:latin typeface="微软雅黑"/>
              </a:defRPr>
            </a:pPr>
            <a:r>
              <a:rPr sz="15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连接语言、历史、政治、经济与社会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70831"/>
            <a:ext cx="10881360" cy="1033271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608575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500" b="1">
                <a:solidFill>
                  <a:srgbClr val="C9A66B"/>
                </a:solidFill>
                <a:latin typeface="微软雅黑"/>
              </a:defRPr>
            </a:pPr>
            <a:r>
              <a:rPr sz="25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知识层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535423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可积累、可检验的解释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010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A8BAC6"/>
                </a:solidFill>
                <a:latin typeface="微软雅黑"/>
              </a:defRPr>
            </a:pPr>
            <a:r>
              <a:rPr sz="15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证明整合产生了什么新的认识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阅读地图｜共识之外，保留差异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五本著作，五种进入问题的路径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据五本底本及知识库综述概括；观点差异不等于作者之间直接争论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C9A66B"/>
                </a:solidFill>
                <a:latin typeface="微软雅黑"/>
              </a:defRPr>
            </a:pPr>
            <a:r>
              <a:rPr sz="16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作者／主编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73936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C9A66B"/>
                </a:solidFill>
                <a:latin typeface="微软雅黑"/>
              </a:defRPr>
            </a:pPr>
            <a:r>
              <a:rPr sz="16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主要入口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184" y="1773936"/>
            <a:ext cx="34381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C9A66B"/>
                </a:solidFill>
                <a:latin typeface="微软雅黑"/>
              </a:defRPr>
            </a:pPr>
            <a:r>
              <a:rPr sz="16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提供的研究资源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773936"/>
            <a:ext cx="29809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C9A66B"/>
                </a:solidFill>
                <a:latin typeface="微软雅黑"/>
              </a:defRPr>
            </a:pPr>
            <a:r>
              <a:rPr sz="16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需要继续追问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10972800" cy="59436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50591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钱乘旦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50591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通才＋专才、实地研究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1184" y="2450591"/>
            <a:ext cx="34381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语言／历史／经历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450591"/>
            <a:ext cx="29809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如何避免全知式培养？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90087"/>
            <a:ext cx="10972800" cy="59436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08959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刘鸿武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108959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行走与跨文化会通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4" y="3108959"/>
            <a:ext cx="34381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地方体验与长时段历史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3108959"/>
            <a:ext cx="29809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经验如何接受互校？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648456"/>
            <a:ext cx="10972800" cy="59436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67328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赵可金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767328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域外知识与研究范式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3767328"/>
            <a:ext cx="34381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经验—专业—抽象知识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3767328"/>
            <a:ext cx="29809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不同层次如何连接？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306824"/>
            <a:ext cx="10972800" cy="59436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25696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罗林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425696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建制与理论创新讨论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01184" y="4425696"/>
            <a:ext cx="34381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保留多种学术立场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4425696"/>
            <a:ext cx="29809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如何评价整合效果？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965192"/>
            <a:ext cx="10972800" cy="59436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084064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张蔚磊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084064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跨学科方法与案例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01184" y="5084064"/>
            <a:ext cx="34381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多学科工具与研究设计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2" y="5084064"/>
            <a:ext cx="29809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1E8"/>
                </a:solidFill>
                <a:latin typeface="微软雅黑"/>
              </a:defRPr>
            </a:pPr>
            <a:r>
              <a:rPr sz="15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方法借入后如何融合？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81558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55B7AE"/>
                </a:solidFill>
                <a:latin typeface="微软雅黑"/>
              </a:defRPr>
            </a:pPr>
            <a:r>
              <a:rPr sz="1500" b="0">
                <a:solidFill>
                  <a:srgbClr val="55B7AE"/>
                </a:solidFill>
                <a:latin typeface="微软雅黑"/>
                <a:ea typeface="微软雅黑"/>
                <a:cs typeface="微软雅黑"/>
              </a:rPr>
              <a:t>共同起点：对象与经验    关键分歧：地方性知识是否、以及如何走向一般化解释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空间视角｜国家、文化区域与跨境网络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研究单位，不必等于行政边界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地图：Natural Earth 1:110m land，公有领域；仅绘陆地轮廓｜研究单位选择为本次汇报判断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83464"/>
            <a:ext cx="1581912" cy="329184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2407" y="320040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C9A66B"/>
                </a:solidFill>
                <a:latin typeface="微软雅黑"/>
              </a:defRPr>
            </a:pPr>
            <a:r>
              <a:rPr sz="11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本次汇报判断</a:t>
            </a:r>
          </a:p>
        </p:txBody>
      </p:sp>
      <p:pic>
        <p:nvPicPr>
          <p:cNvPr id="9" name="Picture 8" descr="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737360"/>
            <a:ext cx="7360920" cy="367588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880360" y="3264408"/>
            <a:ext cx="118872" cy="118872"/>
          </a:xfrm>
          <a:prstGeom prst="ellipse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96128" y="2889504"/>
            <a:ext cx="118872" cy="118872"/>
          </a:xfrm>
          <a:prstGeom prst="ellipse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0" y="3337560"/>
            <a:ext cx="118872" cy="118872"/>
          </a:xfrm>
          <a:prstGeom prst="ellipse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944368" y="2944368"/>
            <a:ext cx="2706624" cy="374904"/>
          </a:xfrm>
          <a:prstGeom prst="line">
            <a:avLst/>
          </a:prstGeom>
          <a:ln w="25400">
            <a:solidFill>
              <a:srgbClr val="55B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50992" y="2944368"/>
            <a:ext cx="713232" cy="457200"/>
          </a:xfrm>
          <a:prstGeom prst="line">
            <a:avLst/>
          </a:prstGeom>
          <a:ln w="25400">
            <a:solidFill>
              <a:srgbClr val="55B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5522976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A8BAC6"/>
                </a:solidFill>
                <a:latin typeface="微软雅黑"/>
              </a:defRPr>
            </a:pPr>
            <a:r>
              <a:rPr sz="12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关联示意｜线条表示分析关系，不代表实际流量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C9A66B"/>
                </a:solidFill>
                <a:latin typeface="微软雅黑"/>
              </a:defRPr>
            </a:pPr>
            <a:r>
              <a:rPr sz="26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国家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87168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5F1E8"/>
                </a:solidFill>
                <a:latin typeface="微软雅黑"/>
              </a:defRPr>
            </a:pPr>
            <a:r>
              <a:rPr sz="16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制度、统计与政策的分析单位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821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C9A66B"/>
                </a:solidFill>
                <a:latin typeface="微软雅黑"/>
              </a:defRPr>
            </a:pPr>
            <a:r>
              <a:rPr sz="26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文化区域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4903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5F1E8"/>
                </a:solidFill>
                <a:latin typeface="微软雅黑"/>
              </a:defRPr>
            </a:pPr>
            <a:r>
              <a:rPr sz="16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语言、宗教与历史联系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43983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C9A66B"/>
                </a:solidFill>
                <a:latin typeface="微软雅黑"/>
              </a:defRPr>
            </a:pPr>
            <a:r>
              <a:rPr sz="26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跨境网络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010912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5F1E8"/>
                </a:solidFill>
                <a:latin typeface="微软雅黑"/>
              </a:defRPr>
            </a:pPr>
            <a:r>
              <a:rPr sz="16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迁移、平台与产业链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思考二｜从方法并列到解释整合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跨学科的价值，发生在证据相遇之处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参照钱乘旦《目标、路径与方法》图序 p0075；张蔚磊主编，文本页标 p.19–20；图解为本次设计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83464"/>
            <a:ext cx="1581912" cy="329184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2407" y="320040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C9A66B"/>
                </a:solidFill>
                <a:latin typeface="微软雅黑"/>
              </a:defRPr>
            </a:pPr>
            <a:r>
              <a:rPr sz="11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本次汇报判断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C9A66B"/>
                </a:solidFill>
                <a:latin typeface="微软雅黑"/>
              </a:defRPr>
            </a:pPr>
            <a:r>
              <a:rPr sz="25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同一个问题：跨境就业选择是怎样形成的？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743200"/>
            <a:ext cx="2560320" cy="173736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743200"/>
            <a:ext cx="41148" cy="173736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953512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历史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93591"/>
            <a:ext cx="2139696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迁移通道如何形成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3273552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C9A66B"/>
                </a:solidFill>
                <a:latin typeface="微软雅黑"/>
              </a:defRPr>
            </a:pPr>
            <a:r>
              <a:rPr sz="23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2743200"/>
            <a:ext cx="2560320" cy="173736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2152" y="2743200"/>
            <a:ext cx="41148" cy="173736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4" y="2953512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制度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4" y="3593591"/>
            <a:ext cx="2139696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规则如何分配机会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273552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C9A66B"/>
                </a:solidFill>
                <a:latin typeface="微软雅黑"/>
              </a:defRPr>
            </a:pPr>
            <a:r>
              <a:rPr sz="23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18504" y="2743200"/>
            <a:ext cx="2560320" cy="173736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8504" y="2743200"/>
            <a:ext cx="41148" cy="173736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2953512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民族志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3593591"/>
            <a:ext cx="2139696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行动者如何理解风险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7112" y="3273552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C9A66B"/>
                </a:solidFill>
                <a:latin typeface="微软雅黑"/>
              </a:defRPr>
            </a:pPr>
            <a:r>
              <a:rPr sz="23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34856" y="2743200"/>
            <a:ext cx="2560320" cy="173736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34856" y="2743200"/>
            <a:ext cx="41148" cy="173736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953512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网络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3593591"/>
            <a:ext cx="2139696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中介关系如何组织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97280" y="4828032"/>
            <a:ext cx="9930384" cy="0"/>
          </a:xfrm>
          <a:prstGeom prst="line">
            <a:avLst/>
          </a:prstGeom>
          <a:ln w="25400">
            <a:solidFill>
              <a:srgbClr val="55B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5840" y="5120640"/>
            <a:ext cx="10332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500" b="1">
                <a:solidFill>
                  <a:srgbClr val="55B7AE"/>
                </a:solidFill>
                <a:latin typeface="微软雅黑"/>
              </a:defRPr>
            </a:pPr>
            <a:r>
              <a:rPr sz="2500" b="1">
                <a:solidFill>
                  <a:srgbClr val="55B7AE"/>
                </a:solidFill>
                <a:latin typeface="微软雅黑"/>
                <a:ea typeface="微软雅黑"/>
                <a:cs typeface="微软雅黑"/>
              </a:rPr>
              <a:t>整合检验：删除一种证据，解释是否发生实质变化？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方法三角｜深描、比较、可追溯性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语言与田野是入口，证据互校才形成解释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参照钱乘旦图序 p0141–145、刘鸿武图序 p0328、张蔚磊文本页标 p.233–242；互校框架为本次判断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83464"/>
            <a:ext cx="1581912" cy="329184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2407" y="320040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C9A66B"/>
                </a:solidFill>
                <a:latin typeface="微软雅黑"/>
              </a:defRPr>
            </a:pPr>
            <a:r>
              <a:rPr sz="11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本次汇报判断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371600" y="2057400"/>
            <a:ext cx="1920240" cy="2788920"/>
          </a:xfrm>
          <a:prstGeom prst="line">
            <a:avLst/>
          </a:prstGeom>
          <a:ln w="25400">
            <a:solidFill>
              <a:srgbClr val="55B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4846320"/>
            <a:ext cx="4114800" cy="0"/>
          </a:xfrm>
          <a:prstGeom prst="line">
            <a:avLst/>
          </a:prstGeom>
          <a:ln w="25400">
            <a:solidFill>
              <a:srgbClr val="55B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3291840" y="2057400"/>
            <a:ext cx="2194560" cy="2788920"/>
          </a:xfrm>
          <a:prstGeom prst="line">
            <a:avLst/>
          </a:prstGeom>
          <a:ln w="25400">
            <a:solidFill>
              <a:srgbClr val="55B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057400" y="1737360"/>
            <a:ext cx="2468880" cy="96012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1856231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C9A66B"/>
                </a:solidFill>
                <a:latin typeface="微软雅黑"/>
              </a:defRPr>
            </a:pPr>
            <a:r>
              <a:rPr sz="17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当地语言与深描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27685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F5F1E8"/>
                </a:solidFill>
                <a:latin typeface="微软雅黑"/>
              </a:defRPr>
            </a:pPr>
            <a:r>
              <a:rPr sz="14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行动者如何理解？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59" y="4526280"/>
            <a:ext cx="2468880" cy="96012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464515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C9A66B"/>
                </a:solidFill>
                <a:latin typeface="微软雅黑"/>
              </a:defRPr>
            </a:pPr>
            <a:r>
              <a:rPr sz="17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历史与制度材料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506577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F5F1E8"/>
                </a:solidFill>
                <a:latin typeface="微软雅黑"/>
              </a:defRPr>
            </a:pPr>
            <a:r>
              <a:rPr sz="14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背景如何形成？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4526280"/>
            <a:ext cx="2468880" cy="96012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64515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C9A66B"/>
                </a:solidFill>
                <a:latin typeface="微软雅黑"/>
              </a:defRPr>
            </a:pPr>
            <a:r>
              <a:rPr sz="17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可比较的资料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06577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F5F1E8"/>
                </a:solidFill>
                <a:latin typeface="微软雅黑"/>
              </a:defRPr>
            </a:pPr>
            <a:r>
              <a:rPr sz="14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现象有多普遍？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993392"/>
            <a:ext cx="3657600" cy="361188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1993392"/>
            <a:ext cx="41148" cy="361188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2" y="2203704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把矛盾当作线索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2" y="2843784"/>
            <a:ext cx="3236976" cy="2624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语言能力 ≠ 事实无偏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进入田野 ≠ 样本代表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记录来源、时点与位置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让证据能够被回查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比较设计｜避免套模型，也避免停在个案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从地方性出发，怎样走向有边界的解释？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参照罗林文集李强篇：邹谠相关论述，图序 p0267；比较路径为本次汇报建议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83464"/>
            <a:ext cx="1581912" cy="329184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2407" y="320040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C9A66B"/>
                </a:solidFill>
                <a:latin typeface="微软雅黑"/>
              </a:defRPr>
            </a:pPr>
            <a:r>
              <a:rPr sz="11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本次汇报判断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" y="2212848"/>
            <a:ext cx="2578608" cy="2450592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12848"/>
            <a:ext cx="41148" cy="2450592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37744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C9A66B"/>
                </a:solidFill>
                <a:latin typeface="微软雅黑"/>
              </a:defRPr>
            </a:pPr>
            <a:r>
              <a:rPr sz="26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7180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个案发现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611880"/>
            <a:ext cx="21579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识别地方机制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3127248"/>
            <a:ext cx="246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C9A66B"/>
                </a:solidFill>
                <a:latin typeface="微软雅黑"/>
              </a:defRPr>
            </a:pPr>
            <a:r>
              <a:rPr sz="2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3864" y="2212848"/>
            <a:ext cx="2578608" cy="2450592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83864" y="2212848"/>
            <a:ext cx="41148" cy="2450592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6744" y="237744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C9A66B"/>
                </a:solidFill>
                <a:latin typeface="微软雅黑"/>
              </a:defRPr>
            </a:pPr>
            <a:r>
              <a:rPr sz="26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297180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有意义的对照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3611880"/>
            <a:ext cx="21579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控制关键差异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127248"/>
            <a:ext cx="246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C9A66B"/>
                </a:solidFill>
                <a:latin typeface="微软雅黑"/>
              </a:defRPr>
            </a:pPr>
            <a:r>
              <a:rPr sz="2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216" y="2212848"/>
            <a:ext cx="2578608" cy="2450592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0216" y="2212848"/>
            <a:ext cx="41148" cy="2450592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237744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C9A66B"/>
                </a:solidFill>
                <a:latin typeface="微软雅黑"/>
              </a:defRPr>
            </a:pPr>
            <a:r>
              <a:rPr sz="26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97180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反例检验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611880"/>
            <a:ext cx="21579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主动寻找不成立处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3127248"/>
            <a:ext cx="246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C9A66B"/>
                </a:solidFill>
                <a:latin typeface="微软雅黑"/>
              </a:defRPr>
            </a:pPr>
            <a:r>
              <a:rPr sz="2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16568" y="2212848"/>
            <a:ext cx="2578608" cy="2450592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16568" y="2212848"/>
            <a:ext cx="41148" cy="2450592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237744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C9A66B"/>
                </a:solidFill>
                <a:latin typeface="微软雅黑"/>
              </a:defRPr>
            </a:pPr>
            <a:r>
              <a:rPr sz="26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97180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边界明确的解释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611880"/>
            <a:ext cx="21579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说明适用条件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" y="5074920"/>
            <a:ext cx="10927080" cy="594360"/>
          </a:xfrm>
          <a:prstGeom prst="rect">
            <a:avLst/>
          </a:prstGeom>
          <a:solidFill>
            <a:srgbClr val="213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02936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F5F1E8"/>
                </a:solidFill>
                <a:latin typeface="微软雅黑"/>
              </a:defRPr>
            </a:pPr>
            <a:r>
              <a:rPr sz="18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示范命题：当中介与劳动者之间的信息差扩大时，风险分配可能更不均衡。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78815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A8BAC6"/>
                </a:solidFill>
                <a:latin typeface="微软雅黑"/>
              </a:defRPr>
            </a:pPr>
            <a:r>
              <a:rPr sz="12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待检验假设，非已证实结论｜需排查合同类型、技能差异与制度保护等替代解释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方法演示｜把一个地方放回关系网络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一个案例：跟随印度 IT 劳动力的跨境流动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案例出处：张蔚磊主编，文本页标 p.225–230，项飚《全球“猎身”》；本页仅作研究设计演示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1764792"/>
            <a:ext cx="2651760" cy="329184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0136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C9A66B"/>
                </a:solidFill>
                <a:latin typeface="微软雅黑"/>
              </a:defRPr>
            </a:pPr>
            <a:r>
              <a:rPr sz="11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示范问题｜风险由谁承担？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2926080" cy="1005840"/>
          </a:xfrm>
          <a:prstGeom prst="rect">
            <a:avLst/>
          </a:prstGeom>
          <a:solidFill>
            <a:srgbClr val="142D40"/>
          </a:solidFill>
          <a:ln>
            <a:solidFill>
              <a:srgbClr val="55B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706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C9A66B"/>
                </a:solidFill>
                <a:latin typeface="微软雅黑"/>
              </a:defRPr>
            </a:pPr>
            <a:r>
              <a:rPr sz="23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劳动者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A8BAC6"/>
                </a:solidFill>
                <a:latin typeface="微软雅黑"/>
              </a:defRPr>
            </a:pPr>
            <a:r>
              <a:rPr sz="13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决策、家庭与技能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9432" y="2606040"/>
            <a:ext cx="2926080" cy="1005840"/>
          </a:xfrm>
          <a:prstGeom prst="rect">
            <a:avLst/>
          </a:prstGeom>
          <a:solidFill>
            <a:srgbClr val="142D40"/>
          </a:solidFill>
          <a:ln>
            <a:solidFill>
              <a:srgbClr val="55B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7706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C9A66B"/>
                </a:solidFill>
                <a:latin typeface="微软雅黑"/>
              </a:defRPr>
            </a:pPr>
            <a:r>
              <a:rPr sz="23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招聘／培训中介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255264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A8BAC6"/>
                </a:solidFill>
                <a:latin typeface="微软雅黑"/>
              </a:defRPr>
            </a:pPr>
            <a:r>
              <a:rPr sz="13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匹配、合同与信息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2606040"/>
            <a:ext cx="2926080" cy="1005840"/>
          </a:xfrm>
          <a:prstGeom prst="rect">
            <a:avLst/>
          </a:prstGeom>
          <a:solidFill>
            <a:srgbClr val="142D40"/>
          </a:solidFill>
          <a:ln>
            <a:solidFill>
              <a:srgbClr val="55B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27706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C9A66B"/>
                </a:solidFill>
                <a:latin typeface="微软雅黑"/>
              </a:defRPr>
            </a:pPr>
            <a:r>
              <a:rPr sz="23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雇主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3255264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A8BAC6"/>
                </a:solidFill>
                <a:latin typeface="微软雅黑"/>
              </a:defRPr>
            </a:pPr>
            <a:r>
              <a:rPr sz="13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需求、成本与用工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0" y="3072384"/>
            <a:ext cx="758952" cy="0"/>
          </a:xfrm>
          <a:prstGeom prst="line">
            <a:avLst/>
          </a:prstGeom>
          <a:ln w="25400">
            <a:solidFill>
              <a:srgbClr val="C9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25512" y="3072384"/>
            <a:ext cx="758952" cy="0"/>
          </a:xfrm>
          <a:prstGeom prst="line">
            <a:avLst/>
          </a:prstGeom>
          <a:ln w="25400">
            <a:solidFill>
              <a:srgbClr val="C9A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04088" y="4251960"/>
            <a:ext cx="3474720" cy="1389888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" y="4251960"/>
            <a:ext cx="41148" cy="1389888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62272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访谈／观察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02352"/>
            <a:ext cx="3054096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理解决策与风险感受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53127" y="4251960"/>
            <a:ext cx="3474720" cy="1389888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53127" y="4251960"/>
            <a:ext cx="41148" cy="1389888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462272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合同／制度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102352"/>
            <a:ext cx="3054096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追踪权利与责任分配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2167" y="4251960"/>
            <a:ext cx="3474720" cy="1389888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02167" y="4251960"/>
            <a:ext cx="41148" cy="1389888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462272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关系网络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102352"/>
            <a:ext cx="3054096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识别资源与中介位置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888736"/>
            <a:ext cx="10515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5B7AE"/>
                </a:solidFill>
                <a:latin typeface="微软雅黑"/>
              </a:defRPr>
            </a:pPr>
            <a:r>
              <a:rPr sz="1400" b="0">
                <a:solidFill>
                  <a:srgbClr val="55B7AE"/>
                </a:solidFill>
                <a:latin typeface="微软雅黑"/>
                <a:ea typeface="微软雅黑"/>
                <a:cs typeface="微软雅黑"/>
              </a:rPr>
              <a:t>跟随人、文件与关系移动；用直接招聘、不同合同与不同群体建立对照。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思考三｜战略需求与学术自主的张力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服务现实，需要保留说出“不利事实”的能力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参照赵可金文本页标 p.63：国家主义范式；二维分析框架为本次汇报判断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83464"/>
            <a:ext cx="1581912" cy="329184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2407" y="320040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C9A66B"/>
                </a:solidFill>
                <a:latin typeface="微软雅黑"/>
              </a:defRPr>
            </a:pPr>
            <a:r>
              <a:rPr sz="11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本次汇报判断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2194560"/>
            <a:ext cx="3108960" cy="1668780"/>
          </a:xfrm>
          <a:prstGeom prst="rect">
            <a:avLst/>
          </a:prstGeom>
          <a:solidFill>
            <a:srgbClr val="1B4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96512" y="2194560"/>
            <a:ext cx="3108960" cy="1668780"/>
          </a:xfrm>
          <a:prstGeom prst="rect">
            <a:avLst/>
          </a:prstGeom>
          <a:solidFill>
            <a:srgbClr val="255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" y="3863339"/>
            <a:ext cx="3108960" cy="166878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3863339"/>
            <a:ext cx="3108960" cy="1668780"/>
          </a:xfrm>
          <a:prstGeom prst="rect">
            <a:avLst/>
          </a:prstGeom>
          <a:solidFill>
            <a:srgbClr val="39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87552" y="5623559"/>
            <a:ext cx="6446519" cy="0"/>
          </a:xfrm>
          <a:prstGeom prst="line">
            <a:avLst/>
          </a:prstGeom>
          <a:ln w="19050">
            <a:solidFill>
              <a:srgbClr val="F5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77824" y="2011679"/>
            <a:ext cx="0" cy="3520441"/>
          </a:xfrm>
          <a:prstGeom prst="line">
            <a:avLst/>
          </a:prstGeom>
          <a:ln w="19050">
            <a:solidFill>
              <a:srgbClr val="F5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34440" y="2514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F5F1E8"/>
                </a:solidFill>
                <a:latin typeface="微软雅黑"/>
              </a:defRPr>
            </a:pPr>
            <a:r>
              <a:rPr sz="21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扎实的基础研究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10128"/>
            <a:ext cx="26974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A8BAC6"/>
                </a:solidFill>
                <a:latin typeface="微软雅黑"/>
              </a:defRPr>
            </a:pPr>
            <a:r>
              <a:rPr sz="11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关联度较低／可核验性高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14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F5F1E8"/>
                </a:solidFill>
                <a:latin typeface="微软雅黑"/>
              </a:defRPr>
            </a:pPr>
            <a:r>
              <a:rPr sz="21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面向现实的可靠研究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10128"/>
            <a:ext cx="26974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A8BAC6"/>
                </a:solidFill>
                <a:latin typeface="微软雅黑"/>
              </a:defRPr>
            </a:pPr>
            <a:r>
              <a:rPr sz="11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关联度高／可核验性高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78808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F5F1E8"/>
                </a:solidFill>
                <a:latin typeface="微软雅黑"/>
              </a:defRPr>
            </a:pPr>
            <a:r>
              <a:rPr sz="21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难以积累的描述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74336"/>
            <a:ext cx="26974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A8BAC6"/>
                </a:solidFill>
                <a:latin typeface="微软雅黑"/>
              </a:defRPr>
            </a:pPr>
            <a:r>
              <a:rPr sz="11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关联度低／可核验性低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78808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F5F1E8"/>
                </a:solidFill>
                <a:latin typeface="微软雅黑"/>
              </a:defRPr>
            </a:pPr>
            <a:r>
              <a:rPr sz="21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迎合预设的论证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974336"/>
            <a:ext cx="26974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A8BAC6"/>
                </a:solidFill>
                <a:latin typeface="微软雅黑"/>
              </a:defRPr>
            </a:pPr>
            <a:r>
              <a:rPr sz="11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关联度高／可核验性低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1828800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C9A66B"/>
                </a:solidFill>
                <a:latin typeface="微软雅黑"/>
              </a:defRPr>
            </a:pPr>
            <a:r>
              <a:rPr sz="13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↑ 证据可独立核验程度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83387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C9A66B"/>
                </a:solidFill>
                <a:latin typeface="微软雅黑"/>
              </a:defRPr>
            </a:pPr>
            <a:r>
              <a:rPr sz="13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公共问题关联度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2377440"/>
            <a:ext cx="351129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500" b="1">
                <a:solidFill>
                  <a:srgbClr val="C9A66B"/>
                </a:solidFill>
                <a:latin typeface="微软雅黑"/>
              </a:defRPr>
            </a:pPr>
            <a:r>
              <a:rPr sz="25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政策目标可以明确</a:t>
            </a:r>
          </a:p>
          <a:p>
            <a:pPr algn="l">
              <a:spcAft>
                <a:spcPts val="800"/>
              </a:spcAft>
              <a:defRPr sz="2500" b="1">
                <a:solidFill>
                  <a:srgbClr val="C9A66B"/>
                </a:solidFill>
                <a:latin typeface="微软雅黑"/>
              </a:defRPr>
            </a:pPr>
            <a:r>
              <a:rPr sz="25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事实判断必须开放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858768"/>
            <a:ext cx="351129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F5F1E8"/>
                </a:solidFill>
                <a:latin typeface="微软雅黑"/>
              </a:defRPr>
            </a:pPr>
            <a:r>
              <a:rPr sz="19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允许不利事实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F5F1E8"/>
                </a:solidFill>
                <a:latin typeface="微软雅黑"/>
              </a:defRPr>
            </a:pPr>
            <a:r>
              <a:rPr sz="19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报告不确定性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F5F1E8"/>
                </a:solidFill>
                <a:latin typeface="微软雅黑"/>
              </a:defRPr>
            </a:pPr>
            <a:r>
              <a:rPr sz="19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保留修正预期的能力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知识责任｜把被研究者变成共同解释者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自主知识体系，如何避免新的中心主义？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参照刘鸿武图序 p0328：中国立场与世界视野；四问与合作建议为本次汇报判断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83464"/>
            <a:ext cx="1581912" cy="329184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2407" y="320040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C9A66B"/>
                </a:solidFill>
                <a:latin typeface="微软雅黑"/>
              </a:defRPr>
            </a:pPr>
            <a:r>
              <a:rPr sz="11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本次汇报判断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321808" cy="164592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C9A66B"/>
                </a:solidFill>
                <a:latin typeface="微软雅黑"/>
              </a:defRPr>
            </a:pPr>
            <a:r>
              <a:rPr sz="23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084831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5F1E8"/>
                </a:solidFill>
                <a:latin typeface="微软雅黑"/>
              </a:defRPr>
            </a:pPr>
            <a:r>
              <a:rPr sz="22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谁提出问题？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770632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A8BAC6"/>
                </a:solidFill>
                <a:latin typeface="微软雅黑"/>
              </a:defRPr>
            </a:pPr>
            <a:r>
              <a:rPr sz="16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共同设计，而非单向设问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321808" cy="164592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C9A66B"/>
                </a:solidFill>
                <a:latin typeface="微软雅黑"/>
              </a:defRPr>
            </a:pPr>
            <a:r>
              <a:rPr sz="23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资料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084831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5F1E8"/>
                </a:solidFill>
                <a:latin typeface="微软雅黑"/>
              </a:defRPr>
            </a:pPr>
            <a:r>
              <a:rPr sz="22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谁拥有资料？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770632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A8BAC6"/>
                </a:solidFill>
                <a:latin typeface="微软雅黑"/>
              </a:defRPr>
            </a:pPr>
            <a:r>
              <a:rPr sz="16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知情同意与安全保存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776472"/>
            <a:ext cx="5321808" cy="164592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5935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C9A66B"/>
                </a:solidFill>
                <a:latin typeface="微软雅黑"/>
              </a:defRPr>
            </a:pPr>
            <a:r>
              <a:rPr sz="23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986784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5F1E8"/>
                </a:solidFill>
                <a:latin typeface="微软雅黑"/>
              </a:defRPr>
            </a:pPr>
            <a:r>
              <a:rPr sz="22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谁参与解释？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672583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A8BAC6"/>
                </a:solidFill>
                <a:latin typeface="微软雅黑"/>
              </a:defRPr>
            </a:pPr>
            <a:r>
              <a:rPr sz="16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概念互译与当地同行核对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776472"/>
            <a:ext cx="5321808" cy="164592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5935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C9A66B"/>
                </a:solidFill>
                <a:latin typeface="微软雅黑"/>
              </a:defRPr>
            </a:pPr>
            <a:r>
              <a:rPr sz="23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收益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986784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5F1E8"/>
                </a:solidFill>
                <a:latin typeface="微软雅黑"/>
              </a:defRPr>
            </a:pPr>
            <a:r>
              <a:rPr sz="22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谁从成果受益？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672583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A8BAC6"/>
                </a:solidFill>
                <a:latin typeface="微软雅黑"/>
              </a:defRPr>
            </a:pPr>
            <a:r>
              <a:rPr sz="16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合作署名与成果反馈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90702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55B7AE"/>
                </a:solidFill>
                <a:latin typeface="微软雅黑"/>
              </a:defRPr>
            </a:pPr>
            <a:r>
              <a:rPr sz="1900" b="0">
                <a:solidFill>
                  <a:srgbClr val="55B7AE"/>
                </a:solidFill>
                <a:latin typeface="微软雅黑"/>
                <a:ea typeface="微软雅黑"/>
                <a:cs typeface="微软雅黑"/>
              </a:rPr>
              <a:t>有辨识度的中国问题意识 ＋ 能被他者修正的研究过程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培养与评价｜从课程数量转向研究表现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“通才＋专才”，应当培养什么可验证的能力？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钱乘旦图序 p0065、p0131、p0220；周方银篇见罗林文集图序 p0072–73；评价指标为建议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83464"/>
            <a:ext cx="1581912" cy="329184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2407" y="320040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C9A66B"/>
                </a:solidFill>
                <a:latin typeface="微软雅黑"/>
              </a:defRPr>
            </a:pPr>
            <a:r>
              <a:rPr sz="11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本次汇报判断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2011680"/>
            <a:ext cx="6217920" cy="950976"/>
          </a:xfrm>
          <a:prstGeom prst="rect">
            <a:avLst/>
          </a:prstGeom>
          <a:solidFill>
            <a:srgbClr val="284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27685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5F1E8"/>
                </a:solidFill>
                <a:latin typeface="微软雅黑"/>
              </a:defRPr>
            </a:pPr>
            <a:r>
              <a:rPr sz="22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语言  ·  历史  ·  制度  ·  社会背景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8064" y="2962656"/>
            <a:ext cx="2176272" cy="2569464"/>
          </a:xfrm>
          <a:prstGeom prst="rect">
            <a:avLst/>
          </a:prstGeom>
          <a:solidFill>
            <a:srgbClr val="142D40"/>
          </a:solidFill>
          <a:ln>
            <a:solidFill>
              <a:srgbClr val="C9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3364992"/>
            <a:ext cx="1737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C9A66B"/>
                </a:solidFill>
                <a:latin typeface="微软雅黑"/>
              </a:defRPr>
            </a:pPr>
            <a:r>
              <a:rPr sz="23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专题深度</a:t>
            </a:r>
          </a:p>
          <a:p>
            <a:pPr algn="ctr">
              <a:spcAft>
                <a:spcPts val="800"/>
              </a:spcAft>
              <a:defRPr sz="2300" b="1">
                <a:solidFill>
                  <a:srgbClr val="C9A66B"/>
                </a:solidFill>
                <a:latin typeface="微软雅黑"/>
              </a:defRPr>
            </a:pPr>
            <a:r>
              <a:rPr sz="23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＋</a:t>
            </a:r>
          </a:p>
          <a:p>
            <a:pPr algn="ctr">
              <a:spcAft>
                <a:spcPts val="800"/>
              </a:spcAft>
              <a:defRPr sz="2300" b="1">
                <a:solidFill>
                  <a:srgbClr val="C9A66B"/>
                </a:solidFill>
                <a:latin typeface="微软雅黑"/>
              </a:defRPr>
            </a:pPr>
            <a:r>
              <a:rPr sz="23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方法熟练度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833872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A8BAC6"/>
                </a:solidFill>
                <a:latin typeface="微软雅黑"/>
              </a:defRPr>
            </a:pPr>
            <a:r>
              <a:rPr sz="13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“通”：宽广背景与接触面；“专”：独立完成研究的能力。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01168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C9A66B"/>
                </a:solidFill>
                <a:latin typeface="微软雅黑"/>
              </a:defRPr>
            </a:pPr>
            <a:r>
              <a:rPr sz="24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四项可验证的表现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2807208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55B7AE"/>
                </a:solidFill>
                <a:latin typeface="微软雅黑"/>
              </a:defRPr>
            </a:pPr>
            <a:r>
              <a:rPr sz="1600" b="0">
                <a:solidFill>
                  <a:srgbClr val="55B7AE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F5F1E8"/>
                </a:solidFill>
                <a:latin typeface="微软雅黑"/>
              </a:defRPr>
            </a:pPr>
            <a:r>
              <a:rPr sz="22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材料可追溯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3502152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55B7AE"/>
                </a:solidFill>
                <a:latin typeface="微软雅黑"/>
              </a:defRPr>
            </a:pPr>
            <a:r>
              <a:rPr sz="1600" b="0">
                <a:solidFill>
                  <a:srgbClr val="55B7A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4747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F5F1E8"/>
                </a:solidFill>
                <a:latin typeface="微软雅黑"/>
              </a:defRPr>
            </a:pPr>
            <a:r>
              <a:rPr sz="22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方法有协作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419709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55B7AE"/>
                </a:solidFill>
                <a:latin typeface="微软雅黑"/>
              </a:defRPr>
            </a:pPr>
            <a:r>
              <a:rPr sz="1600" b="0">
                <a:solidFill>
                  <a:srgbClr val="55B7A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169664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F5F1E8"/>
                </a:solidFill>
                <a:latin typeface="微软雅黑"/>
              </a:defRPr>
            </a:pPr>
            <a:r>
              <a:rPr sz="22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反例被处理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489204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55B7AE"/>
                </a:solidFill>
                <a:latin typeface="微软雅黑"/>
              </a:defRPr>
            </a:pPr>
            <a:r>
              <a:rPr sz="1600" b="0">
                <a:solidFill>
                  <a:srgbClr val="55B7A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86460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F5F1E8"/>
                </a:solidFill>
                <a:latin typeface="微软雅黑"/>
              </a:defRPr>
            </a:pPr>
            <a:r>
              <a:rPr sz="22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成果可使用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结论｜三项可以立即开始的研究实践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让区域知识变得可解释、可检验、可对话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结论与行动建议为本次汇报判断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83464"/>
            <a:ext cx="1581912" cy="329184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2407" y="320040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C9A66B"/>
                </a:solidFill>
                <a:latin typeface="微软雅黑"/>
              </a:defRPr>
            </a:pPr>
            <a:r>
              <a:rPr sz="11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本次汇报判断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10835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700" b="0">
                <a:solidFill>
                  <a:srgbClr val="C9A66B"/>
                </a:solidFill>
                <a:latin typeface="宋体"/>
              </a:defRPr>
            </a:pPr>
            <a:r>
              <a:rPr sz="2700" b="0">
                <a:solidFill>
                  <a:srgbClr val="C9A66B"/>
                </a:solidFill>
                <a:latin typeface="宋体"/>
                <a:ea typeface="宋体"/>
                <a:cs typeface="宋体"/>
              </a:rPr>
              <a:t>区域国别学的贡献，应体现在认识世界的方法上。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852928"/>
            <a:ext cx="3474720" cy="2578608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" y="2852928"/>
            <a:ext cx="41148" cy="2578608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C9A66B"/>
                </a:solidFill>
                <a:latin typeface="微软雅黑"/>
              </a:defRPr>
            </a:pPr>
            <a:r>
              <a:rPr sz="26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缩小问题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3054096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从国家全貌到明确现象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写出一个机制问题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7" y="2852928"/>
            <a:ext cx="3474720" cy="2578608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3127" y="2852928"/>
            <a:ext cx="41148" cy="2578608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3017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C9A66B"/>
                </a:solidFill>
                <a:latin typeface="微软雅黑"/>
              </a:defRPr>
            </a:pPr>
            <a:r>
              <a:rPr sz="26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11880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做实证据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51960"/>
            <a:ext cx="3054096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从材料堆积到交叉互校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建立可回查的证据链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7" y="2852928"/>
            <a:ext cx="3474720" cy="2578608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02167" y="2852928"/>
            <a:ext cx="41148" cy="2578608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3017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C9A66B"/>
                </a:solidFill>
                <a:latin typeface="微软雅黑"/>
              </a:defRPr>
            </a:pPr>
            <a:r>
              <a:rPr sz="26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11880"/>
            <a:ext cx="3054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5F1E8"/>
                </a:solidFill>
                <a:latin typeface="微软雅黑"/>
              </a:defRPr>
            </a:pPr>
            <a:r>
              <a:rPr sz="23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开放解释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51960"/>
            <a:ext cx="3054096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从单向观察到共同检验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</a:p>
          <a:p>
            <a:pPr algn="l">
              <a:spcAft>
                <a:spcPts val="800"/>
              </a:spcAft>
              <a:defRPr sz="1700" b="0">
                <a:solidFill>
                  <a:srgbClr val="A8BAC6"/>
                </a:solidFill>
                <a:latin typeface="微软雅黑"/>
              </a:defRPr>
            </a:pPr>
            <a:r>
              <a:rPr sz="17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邀请当地与跨学科同行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815584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500" b="1">
                <a:solidFill>
                  <a:srgbClr val="55B7AE"/>
                </a:solidFill>
                <a:latin typeface="微软雅黑"/>
              </a:defRPr>
            </a:pPr>
            <a:r>
              <a:rPr sz="2500" b="1">
                <a:solidFill>
                  <a:srgbClr val="55B7AE"/>
                </a:solidFill>
                <a:latin typeface="微软雅黑"/>
                <a:ea typeface="微软雅黑"/>
                <a:cs typeface="微软雅黑"/>
              </a:rPr>
              <a:t>理解他者，也检验我们理解他者的方式。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C9A66B"/>
                </a:solidFill>
                <a:latin typeface="微软雅黑"/>
              </a:defRPr>
            </a:pPr>
            <a:r>
              <a:rPr sz="12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五本底本＋可追溯的概念、页标与视觉来源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5F1E8"/>
                </a:solidFill>
                <a:latin typeface="微软雅黑"/>
              </a:defRPr>
            </a:pPr>
            <a:r>
              <a:rPr sz="3000" b="1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阅读依据与来源说明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36792"/>
            <a:ext cx="11045952" cy="0"/>
          </a:xfrm>
          <a:prstGeom prst="line">
            <a:avLst/>
          </a:prstGeom>
          <a:ln w="889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BAC6"/>
                </a:solidFill>
                <a:latin typeface="微软雅黑"/>
              </a:defRPr>
            </a:pPr>
            <a:r>
              <a:rPr sz="9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文本来自用户上传知识库；外部视觉数据已下载验证；不使用未核验的网络统计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C9A66B"/>
                </a:solidFill>
                <a:latin typeface="微软雅黑"/>
              </a:defRPr>
            </a:pPr>
            <a:r>
              <a:rPr sz="1000" b="0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508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C9A66B"/>
                </a:solidFill>
                <a:latin typeface="微软雅黑"/>
              </a:defRPr>
            </a:pPr>
            <a:r>
              <a:rPr sz="17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钱乘旦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178308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F5F1E8"/>
                </a:solidFill>
                <a:latin typeface="微软雅黑"/>
              </a:defRPr>
            </a:pPr>
            <a:r>
              <a:rPr sz="18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《目标、路径与方法》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6584" y="2148840"/>
            <a:ext cx="8961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A8BAC6"/>
                </a:solidFill>
                <a:latin typeface="微软雅黑"/>
              </a:defRPr>
            </a:pPr>
            <a:r>
              <a:rPr sz="11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北京大学出版社，2025｜重点：图序 p0065、p0075、p0141–156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9736"/>
            <a:ext cx="1508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C9A66B"/>
                </a:solidFill>
                <a:latin typeface="微软雅黑"/>
              </a:defRPr>
            </a:pPr>
            <a:r>
              <a:rPr sz="17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刘鸿武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9152" y="2459736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F5F1E8"/>
                </a:solidFill>
                <a:latin typeface="微软雅黑"/>
              </a:defRPr>
            </a:pPr>
            <a:r>
              <a:rPr sz="18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《从中国边疆到非洲大陆：跨文化区域研究行与思》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6584" y="2825496"/>
            <a:ext cx="8961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A8BAC6"/>
                </a:solidFill>
                <a:latin typeface="微软雅黑"/>
              </a:defRPr>
            </a:pPr>
            <a:r>
              <a:rPr sz="11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世界知识出版社｜重点：图序 p0021–23、p0089–90、p0328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136391"/>
            <a:ext cx="1508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C9A66B"/>
                </a:solidFill>
                <a:latin typeface="微软雅黑"/>
              </a:defRPr>
            </a:pPr>
            <a:r>
              <a:rPr sz="17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赵可金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3136391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F5F1E8"/>
                </a:solidFill>
                <a:latin typeface="微软雅黑"/>
              </a:defRPr>
            </a:pPr>
            <a:r>
              <a:rPr sz="18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《区域国别学》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4" y="3502151"/>
            <a:ext cx="8961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A8BAC6"/>
                </a:solidFill>
                <a:latin typeface="微软雅黑"/>
              </a:defRPr>
            </a:pPr>
            <a:r>
              <a:rPr sz="11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清华大学出版社｜重点：文本页标 p.28–30、p.50–52、p.60–83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813048"/>
            <a:ext cx="1508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C9A66B"/>
                </a:solidFill>
                <a:latin typeface="微软雅黑"/>
              </a:defRPr>
            </a:pPr>
            <a:r>
              <a:rPr sz="17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罗林 主编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3813048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F5F1E8"/>
                </a:solidFill>
                <a:latin typeface="微软雅黑"/>
              </a:defRPr>
            </a:pPr>
            <a:r>
              <a:rPr sz="18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《区域国别学科建构与理论创新》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6584" y="4178808"/>
            <a:ext cx="8961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A8BAC6"/>
                </a:solidFill>
                <a:latin typeface="微软雅黑"/>
              </a:defRPr>
            </a:pPr>
            <a:r>
              <a:rPr sz="11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社会科学文献出版社｜重点：周方银篇图序 p0072–73；李强篇 p0267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489704"/>
            <a:ext cx="1508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C9A66B"/>
                </a:solidFill>
                <a:latin typeface="微软雅黑"/>
              </a:defRPr>
            </a:pPr>
            <a:r>
              <a:rPr sz="1700" b="1">
                <a:solidFill>
                  <a:srgbClr val="C9A66B"/>
                </a:solidFill>
                <a:latin typeface="微软雅黑"/>
                <a:ea typeface="微软雅黑"/>
                <a:cs typeface="微软雅黑"/>
              </a:rPr>
              <a:t>张蔚磊 主编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4489704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F5F1E8"/>
                </a:solidFill>
                <a:latin typeface="微软雅黑"/>
              </a:defRPr>
            </a:pPr>
            <a:r>
              <a:rPr sz="1800" b="0">
                <a:solidFill>
                  <a:srgbClr val="F5F1E8"/>
                </a:solidFill>
                <a:latin typeface="微软雅黑"/>
                <a:ea typeface="微软雅黑"/>
                <a:cs typeface="微软雅黑"/>
              </a:rPr>
              <a:t>《区域国别学跨学科研究的理论与方法》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6584" y="4855464"/>
            <a:ext cx="8961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A8BAC6"/>
                </a:solidFill>
                <a:latin typeface="微软雅黑"/>
              </a:defRPr>
            </a:pPr>
            <a:r>
              <a:rPr sz="11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中国人民大学出版社，2024｜重点：文本页标 p.14、p.19–20、p.225–242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5367528"/>
            <a:ext cx="10698480" cy="0"/>
          </a:xfrm>
          <a:prstGeom prst="line">
            <a:avLst/>
          </a:prstGeom>
          <a:ln w="10160">
            <a:solidFill>
              <a:srgbClr val="355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8952" y="5513832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A8BAC6"/>
                </a:solidFill>
                <a:latin typeface="微软雅黑"/>
              </a:defRPr>
            </a:pPr>
            <a:r>
              <a:rPr sz="12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页标说明：图序与文本页标按知识库定位，不混作印刷页码；OCR 内容采用转述。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A8BAC6"/>
                </a:solidFill>
                <a:latin typeface="微软雅黑"/>
              </a:defRPr>
            </a:pPr>
            <a:r>
              <a:rPr sz="1200" b="0">
                <a:solidFill>
                  <a:srgbClr val="A8BAC6"/>
                </a:solidFill>
                <a:latin typeface="微软雅黑"/>
                <a:ea typeface="微软雅黑"/>
                <a:cs typeface="微软雅黑"/>
              </a:rPr>
              <a:t>视觉来源：Natural Earth 陆地轮廓（公有领域）；地图、地球与图解为本次绘制。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微软雅黑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ajorFont>
      <a:min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微软雅黑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区域国别学相关思考</dc:title>
  <dc:subject>从认识他者，到形成可检验的知识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